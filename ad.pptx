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154A2-A066-1C4E-D079-140779C34A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7E568E-019E-325C-23F6-E3E2BAF111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67E8BC-8BE7-603D-4054-DAF0196884A1}"/>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C886553E-4E5D-0BBA-CE23-62C3C31796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82931-9810-94F0-8DBC-4FB78536D179}"/>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209423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F0A2B-9434-2973-DCFA-EA8F4FD2BC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748FC8-292C-8BC6-E263-BD325FDE8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3794EA-0C2B-FDF8-7540-E1966EF92015}"/>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9AB78EC1-36A8-68C3-1808-DF7C12E12C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4A324E-96F3-DCC8-C70F-902D4D595668}"/>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05591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3559-60E5-4BFF-87FD-78352E987C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C87A94-5B28-7192-CBFD-C049E0D15D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C906D9-6AC9-0FA6-0245-B28E258BB72F}"/>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AD516B67-7AF8-0212-06BD-0F651FA323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87EE2-7F77-F724-881E-0A428793EC7A}"/>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749683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A431-5ED7-4725-245D-48BF99177B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7B0330-95B3-A565-94C8-1232469B7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3EFCF4-7FE2-433B-8602-8FE4AB178B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058864-126A-31F2-08D5-F757A000F1A0}"/>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6" name="Footer Placeholder 5">
            <a:extLst>
              <a:ext uri="{FF2B5EF4-FFF2-40B4-BE49-F238E27FC236}">
                <a16:creationId xmlns:a16="http://schemas.microsoft.com/office/drawing/2014/main" id="{247BE24F-73F1-D60E-CA2A-15727F8331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5C41FA-4ABD-9C58-657E-AD2BB0909BD2}"/>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2270039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729C-4974-351D-3319-79DAC98975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322DD4-AB73-7933-9F66-78D19F9AB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439DF-4301-C05D-6156-66239E8FCD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1D31C9-16E7-462A-3DA4-6FA85F9457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D7441-AB0C-2064-AC5D-64D740748B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27416B-E59E-D38D-187B-60F76F122D4B}"/>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8" name="Footer Placeholder 7">
            <a:extLst>
              <a:ext uri="{FF2B5EF4-FFF2-40B4-BE49-F238E27FC236}">
                <a16:creationId xmlns:a16="http://schemas.microsoft.com/office/drawing/2014/main" id="{F26893D1-A301-8DF2-0C29-97ECE8E9B7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216D1E-E626-9619-DA41-9ADC7E96CD5D}"/>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57660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2AEF-F15A-D045-F882-284A927D74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49D848-A8BA-782D-E27F-1ACD624D458E}"/>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4" name="Footer Placeholder 3">
            <a:extLst>
              <a:ext uri="{FF2B5EF4-FFF2-40B4-BE49-F238E27FC236}">
                <a16:creationId xmlns:a16="http://schemas.microsoft.com/office/drawing/2014/main" id="{6DC2D0CD-CCF6-2E6A-520D-ADDDB17CFA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8DD8B9-27C5-B194-8773-992A3EDBCE28}"/>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564025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C7C467-FA74-6E29-0963-3B23FA0E1F05}"/>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3" name="Footer Placeholder 2">
            <a:extLst>
              <a:ext uri="{FF2B5EF4-FFF2-40B4-BE49-F238E27FC236}">
                <a16:creationId xmlns:a16="http://schemas.microsoft.com/office/drawing/2014/main" id="{B8D2F9D7-55DF-BD91-524A-04C06041D6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4A2D5C-9578-3F28-0624-DCA8051307BB}"/>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34765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935AB-6E77-35F0-6976-F9F31CEC9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55B28D-4178-126A-C911-076F0FF5D9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A8295A-A6AD-6A71-846D-7503CD9B7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521CE-BFCF-9AD8-9806-EC851D0FD3DD}"/>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6" name="Footer Placeholder 5">
            <a:extLst>
              <a:ext uri="{FF2B5EF4-FFF2-40B4-BE49-F238E27FC236}">
                <a16:creationId xmlns:a16="http://schemas.microsoft.com/office/drawing/2014/main" id="{DC3F7F3E-336C-BCA2-E2C7-10457377C1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2ED3F4-C566-3998-D952-B6E2358A61DF}"/>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426224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AA1F-7658-CDC6-2719-3923D9BF85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EF3665-7737-6F07-9DBC-49C4A222A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763369-36A9-C886-127F-38FD339E2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92C26-D37F-0016-6152-06FE34656E0A}"/>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6" name="Footer Placeholder 5">
            <a:extLst>
              <a:ext uri="{FF2B5EF4-FFF2-40B4-BE49-F238E27FC236}">
                <a16:creationId xmlns:a16="http://schemas.microsoft.com/office/drawing/2014/main" id="{1F4BAC52-4FE7-65AD-7927-520A09363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C3018A-843B-303F-C42A-39143E109511}"/>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537203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FBECF-2DC7-3E28-433D-EC6B8A02E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68FC29-EA99-EA53-A167-54D7EA8052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927FA-8352-F83D-D949-510D4A23456A}"/>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B406ABA9-0DEB-15D1-0CF9-BFA94A3CD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C4C94-54C7-98C0-9177-A2E3EEFEE266}"/>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888394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AEA42-929A-7A7B-79A4-81EE3AD152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9DF476-E59C-BC9C-3530-7EB0D609DF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7B56F5-B0F5-8D6A-1033-91C637DDBDBD}"/>
              </a:ext>
            </a:extLst>
          </p:cNvPr>
          <p:cNvSpPr>
            <a:spLocks noGrp="1"/>
          </p:cNvSpPr>
          <p:nvPr>
            <p:ph type="dt" sz="half" idx="10"/>
          </p:nvPr>
        </p:nvSpPr>
        <p:spPr/>
        <p:txBody>
          <a:body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10B89656-4666-5646-772B-E7624ACFF1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3E5C4-0EEA-FD78-3BF9-5668B1F4CE96}"/>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53391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E26F8F-FA29-23EC-74F8-48E9D033C5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4E2648-4E44-E798-7A30-9677F5768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48114-A39F-1954-9C24-20E973A0F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344BCF-C0D2-4594-AC58-E21CA0B4C91D}" type="datetimeFigureOut">
              <a:rPr lang="en-IN" smtClean="0"/>
              <a:t>01-04-2025</a:t>
            </a:fld>
            <a:endParaRPr lang="en-IN"/>
          </a:p>
        </p:txBody>
      </p:sp>
      <p:sp>
        <p:nvSpPr>
          <p:cNvPr id="5" name="Footer Placeholder 4">
            <a:extLst>
              <a:ext uri="{FF2B5EF4-FFF2-40B4-BE49-F238E27FC236}">
                <a16:creationId xmlns:a16="http://schemas.microsoft.com/office/drawing/2014/main" id="{5839FE30-F0BD-3825-39DC-D51706DD9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0569CC-D0B5-6FE9-3B50-AF846AADD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5004A-2D10-4A1E-8889-64F71C6726E5}" type="slidenum">
              <a:rPr lang="en-IN" smtClean="0"/>
              <a:t>‹#›</a:t>
            </a:fld>
            <a:endParaRPr lang="en-IN"/>
          </a:p>
        </p:txBody>
      </p:sp>
    </p:spTree>
    <p:extLst>
      <p:ext uri="{BB962C8B-B14F-4D97-AF65-F5344CB8AC3E}">
        <p14:creationId xmlns:p14="http://schemas.microsoft.com/office/powerpoint/2010/main" val="2930136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9CC2-35F6-3FA3-20EA-BF6C04070F55}"/>
              </a:ext>
            </a:extLst>
          </p:cNvPr>
          <p:cNvSpPr>
            <a:spLocks noGrp="1"/>
          </p:cNvSpPr>
          <p:nvPr>
            <p:ph type="ctrTitle"/>
          </p:nvPr>
        </p:nvSpPr>
        <p:spPr/>
        <p:txBody>
          <a:bodyPr/>
          <a:lstStyle/>
          <a:p>
            <a:r>
              <a:rPr lang="en-US" b="1" dirty="0">
                <a:latin typeface="Segoe UI" panose="020B0502040204020203" pitchFamily="34" charset="0"/>
                <a:cs typeface="Segoe UI" panose="020B0502040204020203" pitchFamily="34" charset="0"/>
              </a:rPr>
              <a:t>Active Directory</a:t>
            </a:r>
            <a:endParaRPr lang="en-IN" b="1"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1939098B-B63F-38D4-56FD-CED347D30F2C}"/>
              </a:ext>
            </a:extLst>
          </p:cNvPr>
          <p:cNvSpPr>
            <a:spLocks noGrp="1"/>
          </p:cNvSpPr>
          <p:nvPr>
            <p:ph type="subTitle" idx="1"/>
          </p:nvPr>
        </p:nvSpPr>
        <p:spPr/>
        <p:txBody>
          <a:bodyPr/>
          <a:lstStyle/>
          <a:p>
            <a:r>
              <a:rPr lang="en-US" dirty="0"/>
              <a:t>Penetration Testing</a:t>
            </a:r>
            <a:endParaRPr lang="en-IN" dirty="0"/>
          </a:p>
        </p:txBody>
      </p:sp>
    </p:spTree>
    <p:extLst>
      <p:ext uri="{BB962C8B-B14F-4D97-AF65-F5344CB8AC3E}">
        <p14:creationId xmlns:p14="http://schemas.microsoft.com/office/powerpoint/2010/main" val="4017629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18C8-7482-8D41-3478-D6EDF7902FEE}"/>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Threats to Active Directory Systems</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5667EF83-5D6E-6C63-00FB-C0676DD734F0}"/>
              </a:ext>
            </a:extLst>
          </p:cNvPr>
          <p:cNvSpPr>
            <a:spLocks noGrp="1"/>
          </p:cNvSpPr>
          <p:nvPr>
            <p:ph idx="1"/>
          </p:nvPr>
        </p:nvSpPr>
        <p:spPr>
          <a:xfrm>
            <a:off x="130276" y="737419"/>
            <a:ext cx="11914238" cy="5928852"/>
          </a:xfrm>
        </p:spPr>
        <p:txBody>
          <a:bodyPr>
            <a:normAutofit/>
          </a:bodyPr>
          <a:lstStyle/>
          <a:p>
            <a:r>
              <a:rPr lang="en-US" sz="1200" dirty="0"/>
              <a:t>1. Default Security Settings: Microsoft built a set of predetermined, default security settings for AD. These security settings may not be suitable for the needs of your organization. Furthermore, hackers are well-versed in these default security settings and will attempt to attack gaps and vulnerabilities. </a:t>
            </a:r>
          </a:p>
          <a:p>
            <a:r>
              <a:rPr lang="en-US" sz="1200" dirty="0"/>
              <a:t>2. Inappropriate Privileged Access: Domain user accounts and other administrative users may have full, privileged access to AD. Special categories of privileged accounts, referred to as superuser accounts, are generally utilized for administration by qualified IT personnel and offer nearly unrestricted command execution and system changes. </a:t>
            </a:r>
          </a:p>
          <a:p>
            <a:r>
              <a:rPr lang="en-US" sz="1200" dirty="0"/>
              <a:t>3. Inappropriate or Broad Access for Roles and Employees: Administrators can provide employees access to specific applications and data based on their positions. Access levels are determined by the roles assigned to individuals. It is critical to restrict access to individuals and roles to the levels necessary for them to accomplish their job tasks.</a:t>
            </a:r>
          </a:p>
          <a:p>
            <a:r>
              <a:rPr lang="en-US" sz="1200" dirty="0"/>
              <a:t>4. Unpatched Vulnerabilities: Cybercriminals can swiftly target unpatched apps, operating systems, and f </a:t>
            </a:r>
            <a:r>
              <a:rPr lang="en-US" sz="1200" dirty="0" err="1"/>
              <a:t>irmware</a:t>
            </a:r>
            <a:r>
              <a:rPr lang="en-US" sz="1200" dirty="0"/>
              <a:t> on AD Servers, gaining a key first foothold in your environment. </a:t>
            </a:r>
          </a:p>
          <a:p>
            <a:r>
              <a:rPr lang="en-US" sz="1200" dirty="0"/>
              <a:t>5. Missing Monitoring Alerts: To better prevent or disrupt illegal access attempts in the future, IT managers must be informed of such incidents. If you don't have a clear Windows audit trail, it's impossible to tell legitimate and malicious access attempts apart, as well as any changes. </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87142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0BE94-E629-7A37-66C7-4F19B0643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3AC45-C2DF-20FE-0D74-D828B7CF317D}"/>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 Initial AD Exploitation</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72CBFCD-806E-8C06-13C5-9E509562C624}"/>
              </a:ext>
            </a:extLst>
          </p:cNvPr>
          <p:cNvSpPr>
            <a:spLocks noGrp="1"/>
          </p:cNvSpPr>
          <p:nvPr>
            <p:ph idx="1"/>
          </p:nvPr>
        </p:nvSpPr>
        <p:spPr>
          <a:xfrm>
            <a:off x="130276" y="737419"/>
            <a:ext cx="11914238" cy="5928852"/>
          </a:xfrm>
        </p:spPr>
        <p:txBody>
          <a:bodyPr>
            <a:normAutofit/>
          </a:bodyPr>
          <a:lstStyle/>
          <a:p>
            <a:r>
              <a:rPr lang="en-IN" sz="1800" dirty="0">
                <a:latin typeface="Segoe UI" panose="020B0502040204020203" pitchFamily="34" charset="0"/>
                <a:cs typeface="Segoe UI" panose="020B0502040204020203" pitchFamily="34" charset="0"/>
              </a:rPr>
              <a:t> •    Introduction to AD </a:t>
            </a:r>
          </a:p>
          <a:p>
            <a:r>
              <a:rPr lang="en-IN" sz="1800" dirty="0">
                <a:latin typeface="Segoe UI" panose="020B0502040204020203" pitchFamily="34" charset="0"/>
                <a:cs typeface="Segoe UI" panose="020B0502040204020203" pitchFamily="34" charset="0"/>
              </a:rPr>
              <a:t>•    Lab Setup</a:t>
            </a:r>
          </a:p>
          <a:p>
            <a:r>
              <a:rPr lang="en-IN" sz="1800" dirty="0">
                <a:latin typeface="Segoe UI" panose="020B0502040204020203" pitchFamily="34" charset="0"/>
                <a:cs typeface="Segoe UI" panose="020B0502040204020203" pitchFamily="34" charset="0"/>
              </a:rPr>
              <a:t> •     Abusing SMB </a:t>
            </a:r>
          </a:p>
          <a:p>
            <a:r>
              <a:rPr lang="en-IN" sz="1800" dirty="0">
                <a:latin typeface="Segoe UI" panose="020B0502040204020203" pitchFamily="34" charset="0"/>
                <a:cs typeface="Segoe UI" panose="020B0502040204020203" pitchFamily="34" charset="0"/>
              </a:rPr>
              <a:t>•    SMB DLL Delivery </a:t>
            </a:r>
          </a:p>
          <a:p>
            <a:r>
              <a:rPr lang="en-IN" sz="1800" dirty="0">
                <a:latin typeface="Segoe UI" panose="020B0502040204020203" pitchFamily="34" charset="0"/>
                <a:cs typeface="Segoe UI" panose="020B0502040204020203" pitchFamily="34" charset="0"/>
              </a:rPr>
              <a:t>•    LLMNR Poisoning Attack </a:t>
            </a:r>
          </a:p>
          <a:p>
            <a:r>
              <a:rPr lang="en-IN" sz="1800" dirty="0">
                <a:latin typeface="Segoe UI" panose="020B0502040204020203" pitchFamily="34" charset="0"/>
                <a:cs typeface="Segoe UI" panose="020B0502040204020203" pitchFamily="34" charset="0"/>
              </a:rPr>
              <a:t>•    Capturing NTLMv2 Hashes</a:t>
            </a:r>
          </a:p>
          <a:p>
            <a:endParaRPr lang="en-IN"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 •   Exploit unpatched, uncovered vulnerability to obtain received connection. </a:t>
            </a:r>
          </a:p>
          <a:p>
            <a:r>
              <a:rPr lang="en-US" sz="1800" dirty="0">
                <a:latin typeface="Segoe UI" panose="020B0502040204020203" pitchFamily="34" charset="0"/>
                <a:cs typeface="Segoe UI" panose="020B0502040204020203" pitchFamily="34" charset="0"/>
              </a:rPr>
              <a:t>•   Perform Application whitelisting Attack for executing the malicious script in the domain network </a:t>
            </a:r>
          </a:p>
          <a:p>
            <a:r>
              <a:rPr lang="en-US" sz="1800" dirty="0">
                <a:latin typeface="Segoe UI" panose="020B0502040204020203" pitchFamily="34" charset="0"/>
                <a:cs typeface="Segoe UI" panose="020B0502040204020203" pitchFamily="34" charset="0"/>
              </a:rPr>
              <a:t>•   Get hands-on expertise in setup an in-house Active Directory environment and gain offensive and defensive </a:t>
            </a:r>
          </a:p>
          <a:p>
            <a:r>
              <a:rPr lang="en-US" sz="1800" dirty="0">
                <a:latin typeface="Segoe UI" panose="020B0502040204020203" pitchFamily="34" charset="0"/>
                <a:cs typeface="Segoe UI" panose="020B0502040204020203" pitchFamily="34" charset="0"/>
              </a:rPr>
              <a:t>learning by simulating APT’s Attack Scenarios.</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6754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02AE-3A5F-33DB-987C-15A1F3592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5697D-192C-B491-03E1-512286DA348F}"/>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AD Post Enumeration</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C8767E7E-C69C-A87A-C1AE-35D25E47FB6C}"/>
              </a:ext>
            </a:extLst>
          </p:cNvPr>
          <p:cNvSpPr>
            <a:spLocks noGrp="1"/>
          </p:cNvSpPr>
          <p:nvPr>
            <p:ph idx="1"/>
          </p:nvPr>
        </p:nvSpPr>
        <p:spPr>
          <a:xfrm>
            <a:off x="130276" y="737419"/>
            <a:ext cx="11914238" cy="5928852"/>
          </a:xfrm>
        </p:spPr>
        <p:txBody>
          <a:bodyPr>
            <a:normAutofit/>
          </a:bodyPr>
          <a:lstStyle/>
          <a:p>
            <a:r>
              <a:rPr lang="en-IN" sz="1800" dirty="0" err="1">
                <a:latin typeface="Segoe UI" panose="020B0502040204020203" pitchFamily="34" charset="0"/>
                <a:cs typeface="Segoe UI" panose="020B0502040204020203" pitchFamily="34" charset="0"/>
              </a:rPr>
              <a:t>RPCClient</a:t>
            </a:r>
            <a:r>
              <a:rPr lang="en-IN" sz="1800" dirty="0">
                <a:latin typeface="Segoe UI" panose="020B0502040204020203" pitchFamily="34" charset="0"/>
                <a:cs typeface="Segoe UI" panose="020B0502040204020203" pitchFamily="34" charset="0"/>
              </a:rPr>
              <a:t> </a:t>
            </a:r>
          </a:p>
          <a:p>
            <a:r>
              <a:rPr lang="en-IN" sz="1800" dirty="0">
                <a:latin typeface="Segoe UI" panose="020B0502040204020203" pitchFamily="34" charset="0"/>
                <a:cs typeface="Segoe UI" panose="020B0502040204020203" pitchFamily="34" charset="0"/>
              </a:rPr>
              <a:t>•    Bloodhound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PowerView</a:t>
            </a:r>
            <a:endParaRPr lang="en-IN" sz="1800" dirty="0">
              <a:latin typeface="Segoe UI" panose="020B0502040204020203" pitchFamily="34" charset="0"/>
              <a:cs typeface="Segoe UI" panose="020B0502040204020203" pitchFamily="34" charset="0"/>
            </a:endParaRPr>
          </a:p>
          <a:p>
            <a:endParaRPr lang="en-IN"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   Performing Domain Reconnaissance resources such as domains, users, groups, ACL, OU, Forest, Trust, and GPO </a:t>
            </a:r>
          </a:p>
          <a:p>
            <a:r>
              <a:rPr lang="en-US" sz="1800" dirty="0">
                <a:latin typeface="Segoe UI" panose="020B0502040204020203" pitchFamily="34" charset="0"/>
                <a:cs typeface="Segoe UI" panose="020B0502040204020203" pitchFamily="34" charset="0"/>
              </a:rPr>
              <a:t>will be done using Microsoft built-in utility </a:t>
            </a:r>
          </a:p>
          <a:p>
            <a:r>
              <a:rPr lang="en-US" sz="1800" dirty="0">
                <a:latin typeface="Segoe UI" panose="020B0502040204020203" pitchFamily="34" charset="0"/>
                <a:cs typeface="Segoe UI" panose="020B0502040204020203" pitchFamily="34" charset="0"/>
              </a:rPr>
              <a:t>•   Hunting and Mapping Active directory resources PowerShell's enumeration scripts, Bloodhound, </a:t>
            </a:r>
            <a:r>
              <a:rPr lang="en-US" sz="1800" dirty="0" err="1">
                <a:latin typeface="Segoe UI" panose="020B0502040204020203" pitchFamily="34" charset="0"/>
                <a:cs typeface="Segoe UI" panose="020B0502040204020203" pitchFamily="34" charset="0"/>
              </a:rPr>
              <a:t>RPCClient</a:t>
            </a:r>
            <a:r>
              <a:rPr lang="en-US" sz="1800" dirty="0">
                <a:latin typeface="Segoe UI" panose="020B0502040204020203" pitchFamily="34" charset="0"/>
                <a:cs typeface="Segoe UI" panose="020B0502040204020203" pitchFamily="34" charset="0"/>
              </a:rPr>
              <a:t>. We </a:t>
            </a:r>
          </a:p>
          <a:p>
            <a:r>
              <a:rPr lang="en-US" sz="1800" dirty="0">
                <a:latin typeface="Segoe UI" panose="020B0502040204020203" pitchFamily="34" charset="0"/>
                <a:cs typeface="Segoe UI" panose="020B0502040204020203" pitchFamily="34" charset="0"/>
              </a:rPr>
              <a:t>will also be seeking domain admins and users. In order to exploit the AD, such as Privilege escalation, lateral </a:t>
            </a:r>
          </a:p>
          <a:p>
            <a:r>
              <a:rPr lang="en-US" sz="1800" dirty="0">
                <a:latin typeface="Segoe UI" panose="020B0502040204020203" pitchFamily="34" charset="0"/>
                <a:cs typeface="Segoe UI" panose="020B0502040204020203" pitchFamily="34" charset="0"/>
              </a:rPr>
              <a:t>movement and persistence, we can use this information to expand our attack surface.</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8003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1B2D-7347-4A63-7542-2C7A57CE8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6478C-1AC8-FEB0-1AD0-C9E52BA2EEDD}"/>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Abusing Kerberos</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A06679CC-A4D1-A617-80CF-7256E92162C7}"/>
              </a:ext>
            </a:extLst>
          </p:cNvPr>
          <p:cNvSpPr>
            <a:spLocks noGrp="1"/>
          </p:cNvSpPr>
          <p:nvPr>
            <p:ph idx="1"/>
          </p:nvPr>
        </p:nvSpPr>
        <p:spPr>
          <a:xfrm>
            <a:off x="130276" y="737419"/>
            <a:ext cx="11914238" cy="5928852"/>
          </a:xfrm>
        </p:spPr>
        <p:txBody>
          <a:bodyPr>
            <a:normAutofit/>
          </a:bodyPr>
          <a:lstStyle/>
          <a:p>
            <a:r>
              <a:rPr lang="en-US" sz="1800" dirty="0">
                <a:latin typeface="Segoe UI" panose="020B0502040204020203" pitchFamily="34" charset="0"/>
                <a:cs typeface="Segoe UI" panose="020B0502040204020203" pitchFamily="34" charset="0"/>
              </a:rPr>
              <a:t> •    Kerberos Authentication &amp; Delegation</a:t>
            </a:r>
          </a:p>
          <a:p>
            <a:r>
              <a:rPr lang="en-US" sz="1800" dirty="0">
                <a:latin typeface="Segoe UI" panose="020B0502040204020203" pitchFamily="34" charset="0"/>
                <a:cs typeface="Segoe UI" panose="020B0502040204020203" pitchFamily="34" charset="0"/>
              </a:rPr>
              <a:t> •     AS-REP Roasting </a:t>
            </a:r>
          </a:p>
          <a:p>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Kerberoasting</a:t>
            </a:r>
            <a:r>
              <a:rPr lang="en-US" sz="1800" dirty="0">
                <a:latin typeface="Segoe UI" panose="020B0502040204020203" pitchFamily="34" charset="0"/>
                <a:cs typeface="Segoe UI" panose="020B0502040204020203" pitchFamily="34" charset="0"/>
              </a:rPr>
              <a:t> Attack</a:t>
            </a:r>
          </a:p>
          <a:p>
            <a:r>
              <a:rPr lang="en-US" sz="1800" dirty="0">
                <a:latin typeface="Segoe UI" panose="020B0502040204020203" pitchFamily="34" charset="0"/>
                <a:cs typeface="Segoe UI" panose="020B0502040204020203" pitchFamily="34" charset="0"/>
              </a:rPr>
              <a:t> •    Kerberos Brute Force Attack</a:t>
            </a:r>
          </a:p>
          <a:p>
            <a:endParaRPr lang="en-US" sz="1800" dirty="0">
              <a:latin typeface="Segoe UI" panose="020B0502040204020203" pitchFamily="34" charset="0"/>
              <a:cs typeface="Segoe UI" panose="020B0502040204020203" pitchFamily="34" charset="0"/>
            </a:endParaRPr>
          </a:p>
          <a:p>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 •    This module will help to understand KERBEROS &amp; its Major Components also Kerberos Workflow using Messages </a:t>
            </a:r>
          </a:p>
          <a:p>
            <a:r>
              <a:rPr lang="en-US" sz="1800" dirty="0">
                <a:latin typeface="Segoe UI" panose="020B0502040204020203" pitchFamily="34" charset="0"/>
                <a:cs typeface="Segoe UI" panose="020B0502040204020203" pitchFamily="34" charset="0"/>
              </a:rPr>
              <a:t>for authentication. </a:t>
            </a:r>
          </a:p>
          <a:p>
            <a:r>
              <a:rPr lang="en-US" sz="1800" dirty="0">
                <a:latin typeface="Segoe UI" panose="020B0502040204020203" pitchFamily="34" charset="0"/>
                <a:cs typeface="Segoe UI" panose="020B0502040204020203" pitchFamily="34" charset="0"/>
              </a:rPr>
              <a:t>•   Discover Service Principal Names that are associated with a normal user account </a:t>
            </a:r>
          </a:p>
          <a:p>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Kerberosting</a:t>
            </a:r>
            <a:r>
              <a:rPr lang="en-US" sz="1800" dirty="0">
                <a:latin typeface="Segoe UI" panose="020B0502040204020203" pitchFamily="34" charset="0"/>
                <a:cs typeface="Segoe UI" panose="020B0502040204020203" pitchFamily="34" charset="0"/>
              </a:rPr>
              <a:t> Attack is a technique to steal a service ticket or RC4 HMAC hash to a service account in a domain. </a:t>
            </a:r>
          </a:p>
          <a:p>
            <a:r>
              <a:rPr lang="en-US" sz="1800" dirty="0">
                <a:latin typeface="Segoe UI" panose="020B0502040204020203" pitchFamily="34" charset="0"/>
                <a:cs typeface="Segoe UI" panose="020B0502040204020203" pitchFamily="34" charset="0"/>
              </a:rPr>
              <a:t>•   AS-REP Roasting is a technique to get the AS-REP encrypted with the user's RC4-HMAC’d password.</a:t>
            </a:r>
          </a:p>
          <a:p>
            <a:r>
              <a:rPr lang="en-US" sz="1800" dirty="0">
                <a:latin typeface="Segoe UI" panose="020B0502040204020203" pitchFamily="34" charset="0"/>
                <a:cs typeface="Segoe UI" panose="020B0502040204020203" pitchFamily="34" charset="0"/>
              </a:rPr>
              <a:t> •   Kerberos Brute Force to identify user accounts without Kerberos </a:t>
            </a:r>
            <a:r>
              <a:rPr lang="en-US" sz="1800" dirty="0" err="1">
                <a:latin typeface="Segoe UI" panose="020B0502040204020203" pitchFamily="34" charset="0"/>
                <a:cs typeface="Segoe UI" panose="020B0502040204020203" pitchFamily="34" charset="0"/>
              </a:rPr>
              <a:t>preauthenticat</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7848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4547D-3FC2-535A-BDCD-996469A31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D74B5-FCCF-708D-0CEE-20EDE4B90B7C}"/>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Credential Dumping</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04B87236-46A5-E919-736A-1F105CEC7076}"/>
              </a:ext>
            </a:extLst>
          </p:cNvPr>
          <p:cNvSpPr>
            <a:spLocks noGrp="1"/>
          </p:cNvSpPr>
          <p:nvPr>
            <p:ph idx="1"/>
          </p:nvPr>
        </p:nvSpPr>
        <p:spPr>
          <a:xfrm>
            <a:off x="130276" y="737419"/>
            <a:ext cx="11914238" cy="5928852"/>
          </a:xfrm>
        </p:spPr>
        <p:txBody>
          <a:bodyPr>
            <a:normAutofit lnSpcReduction="10000"/>
          </a:bodyPr>
          <a:lstStyle/>
          <a:p>
            <a:r>
              <a:rPr lang="en-IN" sz="1800" dirty="0">
                <a:latin typeface="Segoe UI" panose="020B0502040204020203" pitchFamily="34" charset="0"/>
                <a:cs typeface="Segoe UI" panose="020B0502040204020203" pitchFamily="34" charset="0"/>
              </a:rPr>
              <a:t>•    Domain Cache Credential </a:t>
            </a:r>
          </a:p>
          <a:p>
            <a:r>
              <a:rPr lang="en-IN" sz="1800" dirty="0">
                <a:latin typeface="Segoe UI" panose="020B0502040204020203" pitchFamily="34" charset="0"/>
                <a:cs typeface="Segoe UI" panose="020B0502040204020203" pitchFamily="34" charset="0"/>
              </a:rPr>
              <a:t>•    LAPS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DCSync</a:t>
            </a:r>
            <a:r>
              <a:rPr lang="en-IN" sz="1800" dirty="0">
                <a:latin typeface="Segoe UI" panose="020B0502040204020203" pitchFamily="34" charset="0"/>
                <a:cs typeface="Segoe UI" panose="020B0502040204020203" pitchFamily="34" charset="0"/>
              </a:rPr>
              <a:t> Attack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NTDS.dit</a:t>
            </a:r>
            <a:r>
              <a:rPr lang="en-IN" sz="1800" dirty="0">
                <a:latin typeface="Segoe UI" panose="020B0502040204020203" pitchFamily="34" charset="0"/>
                <a:cs typeface="Segoe UI" panose="020B0502040204020203" pitchFamily="34" charset="0"/>
              </a:rPr>
              <a:t> </a:t>
            </a:r>
          </a:p>
          <a:p>
            <a:r>
              <a:rPr lang="en-IN" sz="1800" dirty="0">
                <a:latin typeface="Segoe UI" panose="020B0502040204020203" pitchFamily="34" charset="0"/>
                <a:cs typeface="Segoe UI" panose="020B0502040204020203" pitchFamily="34" charset="0"/>
              </a:rPr>
              <a:t>•    Golden Ticket </a:t>
            </a:r>
          </a:p>
          <a:p>
            <a:r>
              <a:rPr lang="en-IN" sz="1800" dirty="0">
                <a:latin typeface="Segoe UI" panose="020B0502040204020203" pitchFamily="34" charset="0"/>
                <a:cs typeface="Segoe UI" panose="020B0502040204020203" pitchFamily="34" charset="0"/>
              </a:rPr>
              <a:t>•    Silver Ticket</a:t>
            </a:r>
          </a:p>
          <a:p>
            <a:r>
              <a:rPr lang="en-IN" sz="1800" dirty="0">
                <a:latin typeface="Segoe UI" panose="020B0502040204020203" pitchFamily="34" charset="0"/>
                <a:cs typeface="Segoe UI" panose="020B0502040204020203" pitchFamily="34" charset="0"/>
              </a:rPr>
              <a:t> •    Extracting TGT for those users that have the property ‘Do not require Kerberos pre-authentication set </a:t>
            </a:r>
          </a:p>
          <a:p>
            <a:r>
              <a:rPr lang="en-IN" sz="1800" dirty="0">
                <a:latin typeface="Segoe UI" panose="020B0502040204020203" pitchFamily="34" charset="0"/>
                <a:cs typeface="Segoe UI" panose="020B0502040204020203" pitchFamily="34" charset="0"/>
              </a:rPr>
              <a:t>(UF_DONT_REQUIRE_PREAUTH) </a:t>
            </a:r>
          </a:p>
          <a:p>
            <a:r>
              <a:rPr lang="en-IN" sz="1800" dirty="0">
                <a:latin typeface="Segoe UI" panose="020B0502040204020203" pitchFamily="34" charset="0"/>
                <a:cs typeface="Segoe UI" panose="020B0502040204020203" pitchFamily="34" charset="0"/>
              </a:rPr>
              <a:t>•    Creating a bogus TGT to frame Golden Ticket Attack in order to request TGS for the given SPN service principal </a:t>
            </a:r>
          </a:p>
          <a:p>
            <a:r>
              <a:rPr lang="en-IN" sz="1800" dirty="0">
                <a:latin typeface="Segoe UI" panose="020B0502040204020203" pitchFamily="34" charset="0"/>
                <a:cs typeface="Segoe UI" panose="020B0502040204020203" pitchFamily="34" charset="0"/>
              </a:rPr>
              <a:t>name. </a:t>
            </a:r>
          </a:p>
          <a:p>
            <a:r>
              <a:rPr lang="en-IN" sz="1800" dirty="0">
                <a:latin typeface="Segoe UI" panose="020B0502040204020203" pitchFamily="34" charset="0"/>
                <a:cs typeface="Segoe UI" panose="020B0502040204020203" pitchFamily="34" charset="0"/>
              </a:rPr>
              <a:t>•    Creating a bogus TGS to frame Silver Ticket Attack </a:t>
            </a:r>
          </a:p>
          <a:p>
            <a:r>
              <a:rPr lang="en-IN" sz="1800" dirty="0">
                <a:latin typeface="Segoe UI" panose="020B0502040204020203" pitchFamily="34" charset="0"/>
                <a:cs typeface="Segoe UI" panose="020B0502040204020203" pitchFamily="34" charset="0"/>
              </a:rPr>
              <a:t>•    DCSYNC: Typically impersonates a domain controller and requests other DC’s for user credential data via </a:t>
            </a:r>
          </a:p>
          <a:p>
            <a:r>
              <a:rPr lang="en-IN" sz="1800" dirty="0" err="1">
                <a:latin typeface="Segoe UI" panose="020B0502040204020203" pitchFamily="34" charset="0"/>
                <a:cs typeface="Segoe UI" panose="020B0502040204020203" pitchFamily="34" charset="0"/>
              </a:rPr>
              <a:t>GetNCChanges</a:t>
            </a:r>
            <a:r>
              <a:rPr lang="en-IN" sz="1800" dirty="0">
                <a:latin typeface="Segoe UI" panose="020B0502040204020203" pitchFamily="34" charset="0"/>
                <a:cs typeface="Segoe UI" panose="020B0502040204020203" pitchFamily="34" charset="0"/>
              </a:rPr>
              <a:t>. </a:t>
            </a:r>
          </a:p>
          <a:p>
            <a:r>
              <a:rPr lang="en-IN" sz="1800" dirty="0">
                <a:latin typeface="Segoe UI" panose="020B0502040204020203" pitchFamily="34" charset="0"/>
                <a:cs typeface="Segoe UI" panose="020B0502040204020203" pitchFamily="34" charset="0"/>
              </a:rPr>
              <a:t>•    Get the Domain computer password to bypass the Local Administrator Password Solution (LAPS). </a:t>
            </a:r>
          </a:p>
          <a:p>
            <a:r>
              <a:rPr lang="en-IN" sz="1800" dirty="0">
                <a:latin typeface="Segoe UI" panose="020B0502040204020203" pitchFamily="34" charset="0"/>
                <a:cs typeface="Segoe UI" panose="020B0502040204020203" pitchFamily="34" charset="0"/>
              </a:rPr>
              <a:t>•    Obtain passwords and hashes stored inside SAM, Registry hive, Domain Cache Credential, NTDS.DIT, LSA|LSASS </a:t>
            </a:r>
          </a:p>
          <a:p>
            <a:r>
              <a:rPr lang="en-IN" sz="1800" dirty="0">
                <a:latin typeface="Segoe UI" panose="020B0502040204020203" pitchFamily="34" charset="0"/>
                <a:cs typeface="Segoe UI" panose="020B0502040204020203" pitchFamily="34" charset="0"/>
              </a:rPr>
              <a:t>and etc.</a:t>
            </a:r>
          </a:p>
        </p:txBody>
      </p:sp>
    </p:spTree>
    <p:extLst>
      <p:ext uri="{BB962C8B-B14F-4D97-AF65-F5344CB8AC3E}">
        <p14:creationId xmlns:p14="http://schemas.microsoft.com/office/powerpoint/2010/main" val="355785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25F5-7ECD-EC4B-9437-80633DFEB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733D4-9276-FD29-8E15-244EE089C2E9}"/>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Privilege Escalation</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F2B6CDED-3C6B-DF7F-897F-BC2B8D8CDF59}"/>
              </a:ext>
            </a:extLst>
          </p:cNvPr>
          <p:cNvSpPr>
            <a:spLocks noGrp="1"/>
          </p:cNvSpPr>
          <p:nvPr>
            <p:ph idx="1"/>
          </p:nvPr>
        </p:nvSpPr>
        <p:spPr>
          <a:xfrm>
            <a:off x="130276" y="737419"/>
            <a:ext cx="11914238" cy="5928852"/>
          </a:xfrm>
        </p:spPr>
        <p:txBody>
          <a:bodyPr>
            <a:normAutofit/>
          </a:bodyPr>
          <a:lstStyle/>
          <a:p>
            <a:r>
              <a:rPr lang="en-IN" sz="1800" dirty="0">
                <a:latin typeface="Segoe UI" panose="020B0502040204020203" pitchFamily="34" charset="0"/>
                <a:cs typeface="Segoe UI" panose="020B0502040204020203" pitchFamily="34" charset="0"/>
              </a:rPr>
              <a:t> •    Unconstrained Delegation R</a:t>
            </a:r>
          </a:p>
          <a:p>
            <a:r>
              <a:rPr lang="en-IN" sz="1800" dirty="0">
                <a:latin typeface="Segoe UI" panose="020B0502040204020203" pitchFamily="34" charset="0"/>
                <a:cs typeface="Segoe UI" panose="020B0502040204020203" pitchFamily="34" charset="0"/>
              </a:rPr>
              <a:t> •    </a:t>
            </a:r>
            <a:r>
              <a:rPr lang="en-IN" sz="1800" dirty="0" err="1">
                <a:latin typeface="Segoe UI" panose="020B0502040204020203" pitchFamily="34" charset="0"/>
                <a:cs typeface="Segoe UI" panose="020B0502040204020203" pitchFamily="34" charset="0"/>
              </a:rPr>
              <a:t>esource</a:t>
            </a:r>
            <a:r>
              <a:rPr lang="en-IN" sz="1800" dirty="0">
                <a:latin typeface="Segoe UI" panose="020B0502040204020203" pitchFamily="34" charset="0"/>
                <a:cs typeface="Segoe UI" panose="020B0502040204020203" pitchFamily="34" charset="0"/>
              </a:rPr>
              <a:t>-Based Delegation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HiveNightmare</a:t>
            </a:r>
            <a:r>
              <a:rPr lang="en-IN" sz="1800" dirty="0">
                <a:latin typeface="Segoe UI" panose="020B0502040204020203" pitchFamily="34" charset="0"/>
                <a:cs typeface="Segoe UI" panose="020B0502040204020203" pitchFamily="34" charset="0"/>
              </a:rPr>
              <a:t>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sAMAccountName</a:t>
            </a:r>
            <a:r>
              <a:rPr lang="en-IN" sz="1800" dirty="0">
                <a:latin typeface="Segoe UI" panose="020B0502040204020203" pitchFamily="34" charset="0"/>
                <a:cs typeface="Segoe UI" panose="020B0502040204020203" pitchFamily="34" charset="0"/>
              </a:rPr>
              <a:t> Spoofing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SeBackupPrivilege</a:t>
            </a:r>
            <a:r>
              <a:rPr lang="en-IN" sz="1800" dirty="0">
                <a:latin typeface="Segoe UI" panose="020B0502040204020203" pitchFamily="34" charset="0"/>
                <a:cs typeface="Segoe UI" panose="020B0502040204020203" pitchFamily="34" charset="0"/>
              </a:rPr>
              <a:t> </a:t>
            </a:r>
          </a:p>
          <a:p>
            <a:r>
              <a:rPr lang="en-IN" sz="1800" dirty="0">
                <a:latin typeface="Segoe UI" panose="020B0502040204020203" pitchFamily="34" charset="0"/>
                <a:cs typeface="Segoe UI" panose="020B0502040204020203" pitchFamily="34" charset="0"/>
              </a:rPr>
              <a:t>•    Token Impersonation </a:t>
            </a:r>
          </a:p>
          <a:p>
            <a:r>
              <a:rPr lang="en-IN" sz="1800" dirty="0">
                <a:latin typeface="Segoe UI" panose="020B0502040204020203" pitchFamily="34" charset="0"/>
                <a:cs typeface="Segoe UI" panose="020B0502040204020203" pitchFamily="34" charset="0"/>
              </a:rPr>
              <a:t>•    </a:t>
            </a:r>
            <a:r>
              <a:rPr lang="en-IN" sz="1800" dirty="0" err="1">
                <a:latin typeface="Segoe UI" panose="020B0502040204020203" pitchFamily="34" charset="0"/>
                <a:cs typeface="Segoe UI" panose="020B0502040204020203" pitchFamily="34" charset="0"/>
              </a:rPr>
              <a:t>PrintNightmare</a:t>
            </a:r>
            <a:endParaRPr lang="en-IN" sz="1800" dirty="0">
              <a:latin typeface="Segoe UI" panose="020B0502040204020203" pitchFamily="34" charset="0"/>
              <a:cs typeface="Segoe UI" panose="020B0502040204020203" pitchFamily="34" charset="0"/>
            </a:endParaRPr>
          </a:p>
          <a:p>
            <a:endParaRPr lang="en-IN"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 •    Learn local privilege escalation on domain connecting computers.</a:t>
            </a:r>
          </a:p>
          <a:p>
            <a:r>
              <a:rPr lang="en-US" sz="1800" dirty="0">
                <a:latin typeface="Segoe UI" panose="020B0502040204020203" pitchFamily="34" charset="0"/>
                <a:cs typeface="Segoe UI" panose="020B0502040204020203" pitchFamily="34" charset="0"/>
              </a:rPr>
              <a:t> Endpoints.</a:t>
            </a:r>
          </a:p>
          <a:p>
            <a:r>
              <a:rPr lang="en-US" sz="1800" dirty="0">
                <a:latin typeface="Segoe UI" panose="020B0502040204020203" pitchFamily="34" charset="0"/>
                <a:cs typeface="Segoe UI" panose="020B0502040204020203" pitchFamily="34" charset="0"/>
              </a:rPr>
              <a:t> •    Abusing Resource-based constrained delegation which is the root cause of a privilege escalation technique </a:t>
            </a:r>
          </a:p>
          <a:p>
            <a:r>
              <a:rPr lang="en-US" sz="1800" dirty="0">
                <a:latin typeface="Segoe UI" panose="020B0502040204020203" pitchFamily="34" charset="0"/>
                <a:cs typeface="Segoe UI" panose="020B0502040204020203" pitchFamily="34" charset="0"/>
              </a:rPr>
              <a:t>stemming from an attribute “</a:t>
            </a:r>
            <a:r>
              <a:rPr lang="en-US" sz="1800" dirty="0" err="1">
                <a:latin typeface="Segoe UI" panose="020B0502040204020203" pitchFamily="34" charset="0"/>
                <a:cs typeface="Segoe UI" panose="020B0502040204020203" pitchFamily="34" charset="0"/>
              </a:rPr>
              <a:t>msDSAllowedToActonBehalfOfOtherIdentity</a:t>
            </a:r>
            <a:r>
              <a:rPr lang="en-US" sz="1800" dirty="0">
                <a:latin typeface="Segoe UI" panose="020B0502040204020203" pitchFamily="34" charset="0"/>
                <a:cs typeface="Segoe UI" panose="020B0502040204020203" pitchFamily="34" charset="0"/>
              </a:rPr>
              <a:t> </a:t>
            </a:r>
          </a:p>
          <a:p>
            <a:r>
              <a:rPr lang="en-US" sz="1800" dirty="0">
                <a:latin typeface="Segoe UI" panose="020B0502040204020203" pitchFamily="34" charset="0"/>
                <a:cs typeface="Segoe UI" panose="020B0502040204020203" pitchFamily="34" charset="0"/>
              </a:rPr>
              <a:t>•    Enumeration and abusing special privileges assigned to users or services to escalate admin-level access. </a:t>
            </a:r>
          </a:p>
          <a:p>
            <a:r>
              <a:rPr lang="en-US" sz="1800" dirty="0">
                <a:latin typeface="Segoe UI" panose="020B0502040204020203" pitchFamily="34" charset="0"/>
                <a:cs typeface="Segoe UI" panose="020B0502040204020203" pitchFamily="34" charset="0"/>
              </a:rPr>
              <a:t>•    Learn the Zero-day-attack exploitation like </a:t>
            </a:r>
            <a:r>
              <a:rPr lang="en-US" sz="1800" dirty="0" err="1">
                <a:latin typeface="Segoe UI" panose="020B0502040204020203" pitchFamily="34" charset="0"/>
                <a:cs typeface="Segoe UI" panose="020B0502040204020203" pitchFamily="34" charset="0"/>
              </a:rPr>
              <a:t>NoPAC</a:t>
            </a:r>
            <a:r>
              <a:rPr lang="en-US" sz="1800" dirty="0">
                <a:latin typeface="Segoe UI" panose="020B0502040204020203" pitchFamily="34" charset="0"/>
                <a:cs typeface="Segoe UI" panose="020B0502040204020203" pitchFamily="34" charset="0"/>
              </a:rPr>
              <a:t>, SAM-Account Spoofing, </a:t>
            </a:r>
            <a:r>
              <a:rPr lang="en-US" sz="1800" dirty="0" err="1">
                <a:latin typeface="Segoe UI" panose="020B0502040204020203" pitchFamily="34" charset="0"/>
                <a:cs typeface="Segoe UI" panose="020B0502040204020203" pitchFamily="34" charset="0"/>
              </a:rPr>
              <a:t>PetitPotam</a:t>
            </a:r>
            <a:r>
              <a:rPr lang="en-US" sz="1800" dirty="0">
                <a:latin typeface="Segoe UI" panose="020B0502040204020203" pitchFamily="34" charset="0"/>
                <a:cs typeface="Segoe UI" panose="020B0502040204020203" pitchFamily="34" charset="0"/>
              </a:rPr>
              <a:t> NTLM Relay to ADCS</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1143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3DB26-8BFD-B5B9-45C8-292701E1F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2A8ED-0B63-E3A1-B558-C03BE36CD1F5}"/>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Persistence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674A80FF-6B77-BAD0-59C1-75DE917DE1F7}"/>
              </a:ext>
            </a:extLst>
          </p:cNvPr>
          <p:cNvSpPr>
            <a:spLocks noGrp="1"/>
          </p:cNvSpPr>
          <p:nvPr>
            <p:ph idx="1"/>
          </p:nvPr>
        </p:nvSpPr>
        <p:spPr>
          <a:xfrm>
            <a:off x="130276" y="737419"/>
            <a:ext cx="11914238" cy="5928852"/>
          </a:xfrm>
        </p:spPr>
        <p:txBody>
          <a:bodyPr>
            <a:normAutofit fontScale="85000" lnSpcReduction="20000"/>
          </a:bodyPr>
          <a:lstStyle/>
          <a:p>
            <a:pPr>
              <a:lnSpc>
                <a:spcPct val="120000"/>
              </a:lnSpc>
              <a:spcBef>
                <a:spcPts val="0"/>
              </a:spcBef>
            </a:pPr>
            <a:r>
              <a:rPr lang="en-US" sz="1800" dirty="0">
                <a:latin typeface="Segoe UI" panose="020B0502040204020203" pitchFamily="34" charset="0"/>
                <a:cs typeface="Segoe UI" panose="020B0502040204020203" pitchFamily="34" charset="0"/>
              </a:rPr>
              <a:t>•    Golden Certificate Attack </a:t>
            </a:r>
          </a:p>
          <a:p>
            <a:pPr>
              <a:lnSpc>
                <a:spcPct val="120000"/>
              </a:lnSpc>
              <a:spcBef>
                <a:spcPts val="0"/>
              </a:spcBef>
            </a:pPr>
            <a:r>
              <a:rPr lang="en-US" sz="1800" dirty="0">
                <a:latin typeface="Segoe UI" panose="020B0502040204020203" pitchFamily="34" charset="0"/>
                <a:cs typeface="Segoe UI" panose="020B0502040204020203" pitchFamily="34" charset="0"/>
              </a:rPr>
              <a:t>•    DSRM </a:t>
            </a:r>
          </a:p>
          <a:p>
            <a:pPr>
              <a:lnSpc>
                <a:spcPct val="120000"/>
              </a:lnSpc>
              <a:spcBef>
                <a:spcPts val="0"/>
              </a:spcBef>
            </a:pP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AdminSDHolder</a:t>
            </a:r>
            <a:r>
              <a:rPr lang="en-US" sz="1800" dirty="0">
                <a:latin typeface="Segoe UI" panose="020B0502040204020203" pitchFamily="34" charset="0"/>
                <a:cs typeface="Segoe UI" panose="020B0502040204020203" pitchFamily="34" charset="0"/>
              </a:rPr>
              <a:t> </a:t>
            </a:r>
          </a:p>
          <a:p>
            <a:pPr>
              <a:lnSpc>
                <a:spcPct val="120000"/>
              </a:lnSpc>
              <a:spcBef>
                <a:spcPts val="0"/>
              </a:spcBef>
            </a:pPr>
            <a:r>
              <a:rPr lang="en-US" sz="1800" dirty="0">
                <a:latin typeface="Segoe UI" panose="020B0502040204020203" pitchFamily="34" charset="0"/>
                <a:cs typeface="Segoe UI" panose="020B0502040204020203" pitchFamily="34" charset="0"/>
              </a:rPr>
              <a:t>•    DC Shadow Attack </a:t>
            </a:r>
          </a:p>
          <a:p>
            <a:pPr>
              <a:lnSpc>
                <a:spcPct val="120000"/>
              </a:lnSpc>
              <a:spcBef>
                <a:spcPts val="0"/>
              </a:spcBef>
            </a:pPr>
            <a:r>
              <a:rPr lang="en-US" sz="1800" dirty="0">
                <a:latin typeface="Segoe UI" panose="020B0502040204020203" pitchFamily="34" charset="0"/>
                <a:cs typeface="Segoe UI" panose="020B0502040204020203" pitchFamily="34" charset="0"/>
              </a:rPr>
              <a:t>•    Skeleton Key</a:t>
            </a:r>
          </a:p>
          <a:p>
            <a:pPr>
              <a:lnSpc>
                <a:spcPct val="120000"/>
              </a:lnSpc>
              <a:spcBef>
                <a:spcPts val="0"/>
              </a:spcBef>
            </a:pPr>
            <a:r>
              <a:rPr lang="en-US" sz="1800" dirty="0">
                <a:latin typeface="Segoe UI" panose="020B0502040204020203" pitchFamily="34" charset="0"/>
                <a:cs typeface="Segoe UI" panose="020B0502040204020203" pitchFamily="34" charset="0"/>
              </a:rPr>
              <a:t> •    Golden Certificate Attack: This technique leverages the certificate-based authentication in AD enabled by </a:t>
            </a:r>
          </a:p>
          <a:p>
            <a:pPr>
              <a:lnSpc>
                <a:spcPct val="120000"/>
              </a:lnSpc>
              <a:spcBef>
                <a:spcPts val="0"/>
              </a:spcBef>
            </a:pPr>
            <a:r>
              <a:rPr lang="en-US" sz="1800" dirty="0">
                <a:latin typeface="Segoe UI" panose="020B0502040204020203" pitchFamily="34" charset="0"/>
                <a:cs typeface="Segoe UI" panose="020B0502040204020203" pitchFamily="34" charset="0"/>
              </a:rPr>
              <a:t>default with the installation of ADCS (Active Directory Certificate Services) by forging a new certificate using the </a:t>
            </a:r>
          </a:p>
          <a:p>
            <a:pPr>
              <a:lnSpc>
                <a:spcPct val="120000"/>
              </a:lnSpc>
              <a:spcBef>
                <a:spcPts val="0"/>
              </a:spcBef>
            </a:pPr>
            <a:r>
              <a:rPr lang="en-US" sz="1800" dirty="0">
                <a:latin typeface="Segoe UI" panose="020B0502040204020203" pitchFamily="34" charset="0"/>
                <a:cs typeface="Segoe UI" panose="020B0502040204020203" pitchFamily="34" charset="0"/>
              </a:rPr>
              <a:t>private key of the CA certificate. </a:t>
            </a:r>
          </a:p>
          <a:p>
            <a:pPr>
              <a:lnSpc>
                <a:spcPct val="120000"/>
              </a:lnSpc>
              <a:spcBef>
                <a:spcPts val="0"/>
              </a:spcBef>
            </a:pPr>
            <a:r>
              <a:rPr lang="en-US" sz="1800" dirty="0">
                <a:latin typeface="Segoe UI" panose="020B0502040204020203" pitchFamily="34" charset="0"/>
                <a:cs typeface="Segoe UI" panose="020B0502040204020203" pitchFamily="34" charset="0"/>
              </a:rPr>
              <a:t>•    Computer Account: An attacker who has compromised a system with a local administrator account active and a </a:t>
            </a:r>
          </a:p>
          <a:p>
            <a:pPr>
              <a:lnSpc>
                <a:spcPct val="120000"/>
              </a:lnSpc>
              <a:spcBef>
                <a:spcPts val="0"/>
              </a:spcBef>
            </a:pPr>
            <a:r>
              <a:rPr lang="en-US" sz="1800" dirty="0">
                <a:latin typeface="Segoe UI" panose="020B0502040204020203" pitchFamily="34" charset="0"/>
                <a:cs typeface="Segoe UI" panose="020B0502040204020203" pitchFamily="34" charset="0"/>
              </a:rPr>
              <a:t>computer/machine account added in the domain admins group, can use this to dump hashes in a domain that </a:t>
            </a:r>
          </a:p>
          <a:p>
            <a:pPr>
              <a:lnSpc>
                <a:spcPct val="120000"/>
              </a:lnSpc>
              <a:spcBef>
                <a:spcPts val="0"/>
              </a:spcBef>
            </a:pPr>
            <a:r>
              <a:rPr lang="en-US" sz="1800" dirty="0">
                <a:latin typeface="Segoe UI" panose="020B0502040204020203" pitchFamily="34" charset="0"/>
                <a:cs typeface="Segoe UI" panose="020B0502040204020203" pitchFamily="34" charset="0"/>
              </a:rPr>
              <a:t>would allow him to escalate his privileges to Domain Controller and further, how computer accounts can be used by </a:t>
            </a:r>
          </a:p>
          <a:p>
            <a:pPr>
              <a:lnSpc>
                <a:spcPct val="120000"/>
              </a:lnSpc>
              <a:spcBef>
                <a:spcPts val="0"/>
              </a:spcBef>
            </a:pPr>
            <a:r>
              <a:rPr lang="en-US" sz="1800" dirty="0">
                <a:latin typeface="Segoe UI" panose="020B0502040204020203" pitchFamily="34" charset="0"/>
                <a:cs typeface="Segoe UI" panose="020B0502040204020203" pitchFamily="34" charset="0"/>
              </a:rPr>
              <a:t>an attacker to gain persistence. </a:t>
            </a:r>
          </a:p>
          <a:p>
            <a:pPr>
              <a:lnSpc>
                <a:spcPct val="120000"/>
              </a:lnSpc>
              <a:spcBef>
                <a:spcPts val="0"/>
              </a:spcBef>
            </a:pPr>
            <a:r>
              <a:rPr lang="en-US" sz="1800" dirty="0">
                <a:latin typeface="Segoe UI" panose="020B0502040204020203" pitchFamily="34" charset="0"/>
                <a:cs typeface="Segoe UI" panose="020B0502040204020203" pitchFamily="34" charset="0"/>
              </a:rPr>
              <a:t>•     DC Shadow: Manipulating Active Directory (AD) data, including objects and schemas, by registering and </a:t>
            </a:r>
          </a:p>
          <a:p>
            <a:pPr>
              <a:lnSpc>
                <a:spcPct val="120000"/>
              </a:lnSpc>
              <a:spcBef>
                <a:spcPts val="0"/>
              </a:spcBef>
            </a:pPr>
            <a:r>
              <a:rPr lang="en-US" sz="1800" dirty="0">
                <a:latin typeface="Segoe UI" panose="020B0502040204020203" pitchFamily="34" charset="0"/>
                <a:cs typeface="Segoe UI" panose="020B0502040204020203" pitchFamily="34" charset="0"/>
              </a:rPr>
              <a:t>replicating the </a:t>
            </a:r>
            <a:r>
              <a:rPr lang="en-US" sz="1800" dirty="0" err="1">
                <a:latin typeface="Segoe UI" panose="020B0502040204020203" pitchFamily="34" charset="0"/>
                <a:cs typeface="Segoe UI" panose="020B0502040204020203" pitchFamily="34" charset="0"/>
              </a:rPr>
              <a:t>behaviour</a:t>
            </a:r>
            <a:r>
              <a:rPr lang="en-US" sz="1800" dirty="0">
                <a:latin typeface="Segoe UI" panose="020B0502040204020203" pitchFamily="34" charset="0"/>
                <a:cs typeface="Segoe UI" panose="020B0502040204020203" pitchFamily="34" charset="0"/>
              </a:rPr>
              <a:t> of a Domain Controller (DC). It simulates the </a:t>
            </a:r>
            <a:r>
              <a:rPr lang="en-US" sz="1800" dirty="0" err="1">
                <a:latin typeface="Segoe UI" panose="020B0502040204020203" pitchFamily="34" charset="0"/>
                <a:cs typeface="Segoe UI" panose="020B0502040204020203" pitchFamily="34" charset="0"/>
              </a:rPr>
              <a:t>behaviour</a:t>
            </a:r>
            <a:r>
              <a:rPr lang="en-US" sz="1800" dirty="0">
                <a:latin typeface="Segoe UI" panose="020B0502040204020203" pitchFamily="34" charset="0"/>
                <a:cs typeface="Segoe UI" panose="020B0502040204020203" pitchFamily="34" charset="0"/>
              </a:rPr>
              <a:t> of a Domain Controller (using </a:t>
            </a:r>
          </a:p>
          <a:p>
            <a:pPr>
              <a:lnSpc>
                <a:spcPct val="120000"/>
              </a:lnSpc>
              <a:spcBef>
                <a:spcPts val="0"/>
              </a:spcBef>
            </a:pPr>
            <a:r>
              <a:rPr lang="en-US" sz="1800" dirty="0">
                <a:latin typeface="Segoe UI" panose="020B0502040204020203" pitchFamily="34" charset="0"/>
                <a:cs typeface="Segoe UI" panose="020B0502040204020203" pitchFamily="34" charset="0"/>
              </a:rPr>
              <a:t>protocols like RPC used only by DC) to inject its data, bypassing most of the common security controls and including </a:t>
            </a:r>
          </a:p>
          <a:p>
            <a:pPr>
              <a:lnSpc>
                <a:spcPct val="120000"/>
              </a:lnSpc>
              <a:spcBef>
                <a:spcPts val="0"/>
              </a:spcBef>
            </a:pPr>
            <a:r>
              <a:rPr lang="en-US" sz="1800" dirty="0">
                <a:latin typeface="Segoe UI" panose="020B0502040204020203" pitchFamily="34" charset="0"/>
                <a:cs typeface="Segoe UI" panose="020B0502040204020203" pitchFamily="34" charset="0"/>
              </a:rPr>
              <a:t>your SIEM.</a:t>
            </a:r>
          </a:p>
          <a:p>
            <a:pPr>
              <a:lnSpc>
                <a:spcPct val="120000"/>
              </a:lnSpc>
              <a:spcBef>
                <a:spcPts val="0"/>
              </a:spcBef>
            </a:pPr>
            <a:r>
              <a:rPr lang="en-US" sz="1800" dirty="0">
                <a:latin typeface="Segoe UI" panose="020B0502040204020203" pitchFamily="34" charset="0"/>
                <a:cs typeface="Segoe UI" panose="020B0502040204020203" pitchFamily="34" charset="0"/>
              </a:rPr>
              <a:t>•    MITRE Attack Technique for Tactic ID TA0003 which is used by various of APTs &amp; threat Actors for</a:t>
            </a:r>
          </a:p>
          <a:p>
            <a:pPr>
              <a:lnSpc>
                <a:spcPct val="120000"/>
              </a:lnSpc>
              <a:spcBef>
                <a:spcPts val="0"/>
              </a:spcBef>
            </a:pPr>
            <a:r>
              <a:rPr lang="en-US" sz="1800" dirty="0">
                <a:latin typeface="Segoe UI" panose="020B0502040204020203" pitchFamily="34" charset="0"/>
                <a:cs typeface="Segoe UI" panose="020B0502040204020203" pitchFamily="34" charset="0"/>
              </a:rPr>
              <a:t> creating a permanent backdoor in the domain controller. We will check how to use Directory Services</a:t>
            </a:r>
          </a:p>
          <a:p>
            <a:pPr>
              <a:lnSpc>
                <a:spcPct val="120000"/>
              </a:lnSpc>
              <a:spcBef>
                <a:spcPts val="0"/>
              </a:spcBef>
            </a:pPr>
            <a:r>
              <a:rPr lang="en-US" sz="1800" dirty="0">
                <a:latin typeface="Segoe UI" panose="020B0502040204020203" pitchFamily="34" charset="0"/>
                <a:cs typeface="Segoe UI" panose="020B0502040204020203" pitchFamily="34" charset="0"/>
              </a:rPr>
              <a:t> Restore Mode (DSRM) for conducting a persistence attacker on the Domain controller. </a:t>
            </a:r>
          </a:p>
          <a:p>
            <a:pPr>
              <a:lnSpc>
                <a:spcPct val="120000"/>
              </a:lnSpc>
              <a:spcBef>
                <a:spcPts val="0"/>
              </a:spcBef>
            </a:pPr>
            <a:r>
              <a:rPr lang="en-US" sz="1800" dirty="0">
                <a:latin typeface="Segoe UI" panose="020B0502040204020203" pitchFamily="34" charset="0"/>
                <a:cs typeface="Segoe UI" panose="020B0502040204020203" pitchFamily="34" charset="0"/>
              </a:rPr>
              <a:t>•    Persistence attack on Active Directory by abusing </a:t>
            </a:r>
            <a:r>
              <a:rPr lang="en-US" sz="1800" dirty="0" err="1">
                <a:latin typeface="Segoe UI" panose="020B0502040204020203" pitchFamily="34" charset="0"/>
                <a:cs typeface="Segoe UI" panose="020B0502040204020203" pitchFamily="34" charset="0"/>
              </a:rPr>
              <a:t>AdminSDHolder</a:t>
            </a:r>
            <a:r>
              <a:rPr lang="en-US" sz="1800" dirty="0">
                <a:latin typeface="Segoe UI" panose="020B0502040204020203" pitchFamily="34" charset="0"/>
                <a:cs typeface="Segoe UI" panose="020B0502040204020203" pitchFamily="34" charset="0"/>
              </a:rPr>
              <a:t>, Active Directory Domain Services uses </a:t>
            </a:r>
          </a:p>
          <a:p>
            <a:pPr>
              <a:lnSpc>
                <a:spcPct val="120000"/>
              </a:lnSpc>
              <a:spcBef>
                <a:spcPts val="0"/>
              </a:spcBef>
            </a:pPr>
            <a:r>
              <a:rPr lang="en-US" sz="1800" dirty="0" err="1">
                <a:latin typeface="Segoe UI" panose="020B0502040204020203" pitchFamily="34" charset="0"/>
                <a:cs typeface="Segoe UI" panose="020B0502040204020203" pitchFamily="34" charset="0"/>
              </a:rPr>
              <a:t>AdminSDHolder</a:t>
            </a:r>
            <a:r>
              <a:rPr lang="en-US" sz="1800" dirty="0">
                <a:latin typeface="Segoe UI" panose="020B0502040204020203" pitchFamily="34" charset="0"/>
                <a:cs typeface="Segoe UI" panose="020B0502040204020203" pitchFamily="34" charset="0"/>
              </a:rPr>
              <a:t>, protected groups and Security Descriptor propagator (SD propagator or SDPROP for short) to </a:t>
            </a:r>
          </a:p>
          <a:p>
            <a:pPr>
              <a:lnSpc>
                <a:spcPct val="120000"/>
              </a:lnSpc>
              <a:spcBef>
                <a:spcPts val="0"/>
              </a:spcBef>
            </a:pPr>
            <a:r>
              <a:rPr lang="en-US" sz="1800" dirty="0">
                <a:latin typeface="Segoe UI" panose="020B0502040204020203" pitchFamily="34" charset="0"/>
                <a:cs typeface="Segoe UI" panose="020B0502040204020203" pitchFamily="34" charset="0"/>
              </a:rPr>
              <a:t>secure privileged users and groups from unintentional modification. </a:t>
            </a:r>
          </a:p>
          <a:p>
            <a:pPr>
              <a:lnSpc>
                <a:spcPct val="120000"/>
              </a:lnSpc>
              <a:spcBef>
                <a:spcPts val="0"/>
              </a:spcBef>
            </a:pPr>
            <a:r>
              <a:rPr lang="en-US" sz="1800" dirty="0">
                <a:latin typeface="Segoe UI" panose="020B0502040204020203" pitchFamily="34" charset="0"/>
                <a:cs typeface="Segoe UI" panose="020B0502040204020203" pitchFamily="34" charset="0"/>
              </a:rPr>
              <a:t>•    Using Skeleton Key attack to Tampers Kerberos and NTLM the authentication methods by creating the master </a:t>
            </a:r>
          </a:p>
          <a:p>
            <a:pPr>
              <a:lnSpc>
                <a:spcPct val="120000"/>
              </a:lnSpc>
              <a:spcBef>
                <a:spcPts val="0"/>
              </a:spcBef>
            </a:pPr>
            <a:r>
              <a:rPr lang="en-US" sz="1800" dirty="0">
                <a:latin typeface="Segoe UI" panose="020B0502040204020203" pitchFamily="34" charset="0"/>
                <a:cs typeface="Segoe UI" panose="020B0502040204020203" pitchFamily="34" charset="0"/>
              </a:rPr>
              <a:t>password which is injected in the LASS process and Kerberos encryption will also be downgraded to an algorithm </a:t>
            </a:r>
          </a:p>
          <a:p>
            <a:pPr>
              <a:lnSpc>
                <a:spcPct val="120000"/>
              </a:lnSpc>
              <a:spcBef>
                <a:spcPts val="0"/>
              </a:spcBef>
            </a:pPr>
            <a:r>
              <a:rPr lang="en-US" sz="1800" dirty="0">
                <a:latin typeface="Segoe UI" panose="020B0502040204020203" pitchFamily="34" charset="0"/>
                <a:cs typeface="Segoe UI" panose="020B0502040204020203" pitchFamily="34" charset="0"/>
              </a:rPr>
              <a:t>that doesn’t support salt (RC4_HMAC_MD5)</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69453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3FDF0-BFF3-8EA0-0CDF-F39311FA4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06BFE-2011-3669-01E8-052ABB7D83AB}"/>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Lateral Movement</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AB929E1-7F4C-A114-0680-8475A57FADA0}"/>
              </a:ext>
            </a:extLst>
          </p:cNvPr>
          <p:cNvSpPr>
            <a:spLocks noGrp="1"/>
          </p:cNvSpPr>
          <p:nvPr>
            <p:ph idx="1"/>
          </p:nvPr>
        </p:nvSpPr>
        <p:spPr>
          <a:xfrm>
            <a:off x="130276" y="737419"/>
            <a:ext cx="11914238" cy="5928852"/>
          </a:xfrm>
        </p:spPr>
        <p:txBody>
          <a:bodyPr>
            <a:normAutofit/>
          </a:bodyPr>
          <a:lstStyle/>
          <a:p>
            <a:r>
              <a:rPr lang="en-US" sz="1800" dirty="0">
                <a:latin typeface="Segoe UI" panose="020B0502040204020203" pitchFamily="34" charset="0"/>
                <a:cs typeface="Segoe UI" panose="020B0502040204020203" pitchFamily="34" charset="0"/>
              </a:rPr>
              <a:t> •    Pass the Ticket </a:t>
            </a:r>
          </a:p>
          <a:p>
            <a:r>
              <a:rPr lang="en-US" sz="1800" dirty="0">
                <a:latin typeface="Segoe UI" panose="020B0502040204020203" pitchFamily="34" charset="0"/>
                <a:cs typeface="Segoe UI" panose="020B0502040204020203" pitchFamily="34" charset="0"/>
              </a:rPr>
              <a:t>•    Pass the Cache</a:t>
            </a:r>
          </a:p>
          <a:p>
            <a:r>
              <a:rPr lang="en-US" sz="1800" dirty="0">
                <a:latin typeface="Segoe UI" panose="020B0502040204020203" pitchFamily="34" charset="0"/>
                <a:cs typeface="Segoe UI" panose="020B0502040204020203" pitchFamily="34" charset="0"/>
              </a:rPr>
              <a:t> •    </a:t>
            </a:r>
            <a:r>
              <a:rPr lang="en-US" sz="1800" dirty="0" err="1">
                <a:latin typeface="Segoe UI" panose="020B0502040204020203" pitchFamily="34" charset="0"/>
                <a:cs typeface="Segoe UI" panose="020B0502040204020203" pitchFamily="34" charset="0"/>
              </a:rPr>
              <a:t>OverPass</a:t>
            </a:r>
            <a:r>
              <a:rPr lang="en-US" sz="1800" dirty="0">
                <a:latin typeface="Segoe UI" panose="020B0502040204020203" pitchFamily="34" charset="0"/>
                <a:cs typeface="Segoe UI" panose="020B0502040204020203" pitchFamily="34" charset="0"/>
              </a:rPr>
              <a:t> the Hash </a:t>
            </a:r>
          </a:p>
          <a:p>
            <a:r>
              <a:rPr lang="en-US" sz="1800" dirty="0">
                <a:latin typeface="Segoe UI" panose="020B0502040204020203" pitchFamily="34" charset="0"/>
                <a:cs typeface="Segoe UI" panose="020B0502040204020203" pitchFamily="34" charset="0"/>
              </a:rPr>
              <a:t>•    Pass the Hash</a:t>
            </a:r>
          </a:p>
          <a:p>
            <a:r>
              <a:rPr lang="en-US" sz="1800" dirty="0">
                <a:latin typeface="Segoe UI" panose="020B0502040204020203" pitchFamily="34" charset="0"/>
                <a:cs typeface="Segoe UI" panose="020B0502040204020203" pitchFamily="34" charset="0"/>
              </a:rPr>
              <a:t> •    Workstation takeover, also known as lateral movement, </a:t>
            </a:r>
            <a:r>
              <a:rPr lang="en-US" sz="1800" dirty="0" err="1">
                <a:latin typeface="Segoe UI" panose="020B0502040204020203" pitchFamily="34" charset="0"/>
                <a:cs typeface="Segoe UI" panose="020B0502040204020203" pitchFamily="34" charset="0"/>
              </a:rPr>
              <a:t>PetitPotam</a:t>
            </a:r>
            <a:r>
              <a:rPr lang="en-US" sz="1800" dirty="0">
                <a:latin typeface="Segoe UI" panose="020B0502040204020203" pitchFamily="34" charset="0"/>
                <a:cs typeface="Segoe UI" panose="020B0502040204020203" pitchFamily="34" charset="0"/>
              </a:rPr>
              <a:t> or </a:t>
            </a:r>
            <a:r>
              <a:rPr lang="en-US" sz="1800" dirty="0" err="1">
                <a:latin typeface="Segoe UI" panose="020B0502040204020203" pitchFamily="34" charset="0"/>
                <a:cs typeface="Segoe UI" panose="020B0502040204020203" pitchFamily="34" charset="0"/>
              </a:rPr>
              <a:t>PrinterBug</a:t>
            </a:r>
            <a:r>
              <a:rPr lang="en-US" sz="1800" dirty="0">
                <a:latin typeface="Segoe UI" panose="020B0502040204020203" pitchFamily="34" charset="0"/>
                <a:cs typeface="Segoe UI" panose="020B0502040204020203" pitchFamily="34" charset="0"/>
              </a:rPr>
              <a:t>, is an HTTP authentication that </a:t>
            </a:r>
          </a:p>
          <a:p>
            <a:r>
              <a:rPr lang="en-US" sz="1800" dirty="0">
                <a:latin typeface="Segoe UI" panose="020B0502040204020203" pitchFamily="34" charset="0"/>
                <a:cs typeface="Segoe UI" panose="020B0502040204020203" pitchFamily="34" charset="0"/>
              </a:rPr>
              <a:t>can be coerced and relayed to LDAP(S) on domain controllers. </a:t>
            </a:r>
          </a:p>
          <a:p>
            <a:r>
              <a:rPr lang="en-US" sz="1800" dirty="0">
                <a:latin typeface="Segoe UI" panose="020B0502040204020203" pitchFamily="34" charset="0"/>
                <a:cs typeface="Segoe UI" panose="020B0502040204020203" pitchFamily="34" charset="0"/>
              </a:rPr>
              <a:t>•    Extracting MIT Kerberos Credential Cache to use KERB5CCNAME pass the </a:t>
            </a:r>
            <a:r>
              <a:rPr lang="en-US" sz="1800" dirty="0" err="1">
                <a:latin typeface="Segoe UI" panose="020B0502040204020203" pitchFamily="34" charset="0"/>
                <a:cs typeface="Segoe UI" panose="020B0502040204020203" pitchFamily="34" charset="0"/>
              </a:rPr>
              <a:t>ccache</a:t>
            </a:r>
            <a:r>
              <a:rPr lang="en-US" sz="1800" dirty="0">
                <a:latin typeface="Segoe UI" panose="020B0502040204020203" pitchFamily="34" charset="0"/>
                <a:cs typeface="Segoe UI" panose="020B0502040204020203" pitchFamily="34" charset="0"/>
              </a:rPr>
              <a:t> (PTC) file for the requested </a:t>
            </a:r>
          </a:p>
          <a:p>
            <a:r>
              <a:rPr lang="en-US" sz="1800" dirty="0">
                <a:latin typeface="Segoe UI" panose="020B0502040204020203" pitchFamily="34" charset="0"/>
                <a:cs typeface="Segoe UI" panose="020B0502040204020203" pitchFamily="34" charset="0"/>
              </a:rPr>
              <a:t>service Domain </a:t>
            </a:r>
          </a:p>
          <a:p>
            <a:r>
              <a:rPr lang="en-US" sz="1800" dirty="0">
                <a:latin typeface="Segoe UI" panose="020B0502040204020203" pitchFamily="34" charset="0"/>
                <a:cs typeface="Segoe UI" panose="020B0502040204020203" pitchFamily="34" charset="0"/>
              </a:rPr>
              <a:t>•    Pass the Kerberos Ticket TGT extracted from LSASS. </a:t>
            </a:r>
          </a:p>
          <a:p>
            <a:r>
              <a:rPr lang="en-US" sz="1800" dirty="0">
                <a:latin typeface="Segoe UI" panose="020B0502040204020203" pitchFamily="34" charset="0"/>
                <a:cs typeface="Segoe UI" panose="020B0502040204020203" pitchFamily="34" charset="0"/>
              </a:rPr>
              <a:t>•    Access Domain Resources or services using Pass the Hash (PTH) attack and Over Pass the hash (OPTH) attack by </a:t>
            </a:r>
          </a:p>
          <a:p>
            <a:r>
              <a:rPr lang="en-US" sz="1800" dirty="0">
                <a:latin typeface="Segoe UI" panose="020B0502040204020203" pitchFamily="34" charset="0"/>
                <a:cs typeface="Segoe UI" panose="020B0502040204020203" pitchFamily="34" charset="0"/>
              </a:rPr>
              <a:t>using NTLM hash, NTLM (RC4), AES 256 key or AES 128 key.</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6989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05A10-ED2C-FF00-6A54-48F1C3DFE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F64F1-915D-02DC-6C94-3C7765173FDA}"/>
              </a:ext>
            </a:extLst>
          </p:cNvPr>
          <p:cNvSpPr>
            <a:spLocks noGrp="1"/>
          </p:cNvSpPr>
          <p:nvPr>
            <p:ph type="title"/>
          </p:nvPr>
        </p:nvSpPr>
        <p:spPr>
          <a:xfrm>
            <a:off x="130276" y="119318"/>
            <a:ext cx="11914239" cy="519779"/>
          </a:xfrm>
        </p:spPr>
        <p:txBody>
          <a:bodyPr>
            <a:noAutofit/>
          </a:bodyPr>
          <a:lstStyle/>
          <a:p>
            <a:r>
              <a:rPr lang="en-US" sz="2800" b="1" dirty="0" err="1">
                <a:latin typeface="Segoe UI" panose="020B0502040204020203" pitchFamily="34" charset="0"/>
                <a:cs typeface="Segoe UI" panose="020B0502040204020203" pitchFamily="34" charset="0"/>
              </a:rPr>
              <a:t>Powershell</a:t>
            </a:r>
            <a:r>
              <a:rPr lang="en-US" sz="2800" b="1" dirty="0">
                <a:latin typeface="Segoe UI" panose="020B0502040204020203" pitchFamily="34" charset="0"/>
                <a:cs typeface="Segoe UI" panose="020B0502040204020203" pitchFamily="34" charset="0"/>
              </a:rPr>
              <a:t>-Empire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C580BC1F-7AD0-6B31-CE9A-CE5D99B5BAE6}"/>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56717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7BC7B-BFBC-B191-95D9-1C3D556B9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7F289-3917-2AAA-354A-9BA219F4EAA3}"/>
              </a:ext>
            </a:extLst>
          </p:cNvPr>
          <p:cNvSpPr>
            <a:spLocks noGrp="1"/>
          </p:cNvSpPr>
          <p:nvPr>
            <p:ph type="title"/>
          </p:nvPr>
        </p:nvSpPr>
        <p:spPr>
          <a:xfrm>
            <a:off x="130276" y="119318"/>
            <a:ext cx="11914239" cy="519779"/>
          </a:xfrm>
        </p:spPr>
        <p:txBody>
          <a:bodyPr>
            <a:noAutofit/>
          </a:bodyPr>
          <a:lstStyle/>
          <a:p>
            <a:r>
              <a:rPr lang="en-US" sz="2800" b="1" dirty="0" err="1">
                <a:latin typeface="Segoe UI" panose="020B0502040204020203" pitchFamily="34" charset="0"/>
                <a:cs typeface="Segoe UI" panose="020B0502040204020203" pitchFamily="34" charset="0"/>
              </a:rPr>
              <a:t>Crackmapexec</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9A24081A-8359-0111-56A9-55E8419A2C83}"/>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24163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8641E-B671-94EA-989C-95565F137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04AC3-F9A5-DE9A-B8B0-F8FA37193E9F}"/>
              </a:ext>
            </a:extLst>
          </p:cNvPr>
          <p:cNvSpPr>
            <a:spLocks noGrp="1"/>
          </p:cNvSpPr>
          <p:nvPr>
            <p:ph type="title"/>
          </p:nvPr>
        </p:nvSpPr>
        <p:spPr>
          <a:xfrm>
            <a:off x="130276" y="119318"/>
            <a:ext cx="11914239" cy="519779"/>
          </a:xfrm>
        </p:spPr>
        <p:txBody>
          <a:bodyPr>
            <a:noAutofit/>
          </a:bodyPr>
          <a:lstStyle/>
          <a:p>
            <a:r>
              <a:rPr lang="en-US" sz="2800" b="1" dirty="0" err="1">
                <a:latin typeface="Segoe UI" panose="020B0502040204020203" pitchFamily="34" charset="0"/>
                <a:cs typeface="Segoe UI" panose="020B0502040204020203" pitchFamily="34" charset="0"/>
              </a:rPr>
              <a:t>Impacket</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0FAD8C5-6888-5D43-2DF6-F283DB617AE1}"/>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77663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5F3EF-563E-99C6-1997-9073A7527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A5D36-99A4-8689-50BD-C70F08374945}"/>
              </a:ext>
            </a:extLst>
          </p:cNvPr>
          <p:cNvSpPr>
            <a:spLocks noGrp="1"/>
          </p:cNvSpPr>
          <p:nvPr>
            <p:ph type="title"/>
          </p:nvPr>
        </p:nvSpPr>
        <p:spPr>
          <a:xfrm>
            <a:off x="130276" y="119318"/>
            <a:ext cx="11914239" cy="519779"/>
          </a:xfrm>
        </p:spPr>
        <p:txBody>
          <a:bodyPr>
            <a:noAutofit/>
          </a:bodyPr>
          <a:lstStyle/>
          <a:p>
            <a:r>
              <a:rPr lang="pl-PL" sz="2800" b="1" dirty="0">
                <a:latin typeface="Segoe UI" panose="020B0502040204020203" pitchFamily="34" charset="0"/>
                <a:cs typeface="Segoe UI" panose="020B0502040204020203" pitchFamily="34" charset="0"/>
              </a:rPr>
              <a:t> A to Z MimiKatz &amp; Rubeus</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95468C35-BD87-1616-859D-651681B7FCB2}"/>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6266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B0EA-DFF4-2642-D1D2-D5F9C6F59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C5710-F9FC-FD45-0F66-511024E3C2DE}"/>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7DE27189-E569-3A8F-0382-6EB2A90F6086}"/>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10689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838D-F73B-0A7F-D912-70EB7672F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BD42D-B32B-BD31-CACD-27C0170BE547}"/>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7A8D17B9-D02F-0FD4-B195-41C5B9448D38}"/>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64935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337FC-0EE8-B6A8-E244-B5EAE4E18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B01DA-6980-4494-95CA-41040AA32028}"/>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A96A5D39-9446-C644-9FFB-C11EDB755A7A}"/>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91410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1233</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Segoe UI</vt:lpstr>
      <vt:lpstr>Office Theme</vt:lpstr>
      <vt:lpstr>Active Directory</vt:lpstr>
      <vt:lpstr>Threats to Active Directory Systems</vt:lpstr>
      <vt:lpstr> Initial AD Exploitation</vt:lpstr>
      <vt:lpstr>AD Post Enumeration</vt:lpstr>
      <vt:lpstr>Abusing Kerberos</vt:lpstr>
      <vt:lpstr>Credential Dumping</vt:lpstr>
      <vt:lpstr>Privilege Escalation</vt:lpstr>
      <vt:lpstr>Persistence</vt:lpstr>
      <vt:lpstr>Lateral Movement</vt:lpstr>
      <vt:lpstr>Powershell-Empire</vt:lpstr>
      <vt:lpstr>Crackmapexec</vt:lpstr>
      <vt:lpstr>Impacket</vt:lpstr>
      <vt:lpstr> A to Z MimiKatz &amp; Rubeus</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polaris</dc:creator>
  <cp:lastModifiedBy>polaris</cp:lastModifiedBy>
  <cp:revision>15</cp:revision>
  <dcterms:created xsi:type="dcterms:W3CDTF">2025-04-02T03:37:05Z</dcterms:created>
  <dcterms:modified xsi:type="dcterms:W3CDTF">2025-04-02T09:12:13Z</dcterms:modified>
</cp:coreProperties>
</file>